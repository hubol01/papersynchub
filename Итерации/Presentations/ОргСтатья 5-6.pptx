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87FB85-E188-42BA-962A-281B4B9AC55C}">
  <a:tblStyle styleId="{EF87FB85-E188-42BA-962A-281B4B9AC5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1ac07686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1ac07686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8620cb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a8620cb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a910c79d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a910c79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a910c79d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a910c79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a9600a2b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a9600a2b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a9600a2b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a9600a2b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a9600a2b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a9600a2b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9600a2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9600a2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a9600a2b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a9600a2b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a9600a2b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a9600a2b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a9600a2b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a9600a2b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a9600a2b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a9600a2b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a9600a2b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a9600a2b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9600a2b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a9600a2b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9600a2b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a9600a2b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a9600a2b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a9600a2b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9600a2b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9600a2b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a9600a2b6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a9600a2b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9600a2b6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a9600a2b6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a9600a2b6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a9600a2b6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9600a2b6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a9600a2b6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a9600a2b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a9600a2b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9600a2b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9600a2b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a9600a2b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a9600a2b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a9600a2b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a9600a2b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a9600a2b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a9600a2b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ОргСтатья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06750"/>
            <a:ext cx="8520600" cy="11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ru" sz="1270"/>
              <a:t>Выполнили студенты 1/233 группы</a:t>
            </a:r>
            <a:r>
              <a:rPr b="1" lang="ru" sz="1270"/>
              <a:t>: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Пашанов Иван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Куличков Олег</a:t>
            </a:r>
            <a:endParaRPr sz="127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70"/>
              <a:t>Шестернев Даниил</a:t>
            </a:r>
            <a:endParaRPr sz="12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113" y="0"/>
            <a:ext cx="72397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15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Спецификация таблиц и SQL-структура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725825"/>
            <a:ext cx="8457000" cy="4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1. Центральная сущность научного проекта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CREATE TABLE Projects (id INTEGER PRIMARY KEY AUTOINCREMENT, name TEXT NOT NULL, local_path TEXT NOT NULL, git_commit_hash TEXT, createdAt TIMESTAMP DEFAULT CURRENT_TIMESTAMP, updatedAt TIMESTAMP DEFAULT CURRENT_TIMESTAMP);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/>
              <a:t>2. Артефакты проекта (файлы исследований)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CREATE TABLE Artifacts (id INTEGER PRIMARY KEY AUTOINCREMENT, project_id INTEGER NOT NULL, type TEXT CHECK(type IN ('ARTICLE', 'CODE', 'DATASET', 'NOTE')), name TEXT NOT NULL, relative_path TEXT NOT NULL, status TEXT CHECK(status IN ('ACTIVE', 'MISSING', 'ARCHIVED')) DEFAULT 'ACTIVE', FOREIGN KEY (project_id) REFERENCES Projects(id) ON DELETE CASCADE);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/>
              <a:t>3. Зависимости между артефактами (обеспечение связности)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/>
              <a:t>CREATE TABLE Artifact_Dependencies (id INTEGER PRIMARY KEY AUTOINCREMENT, artifact_id INTEGER NOT NULL, dependency_type TEXT CHECK(dependency_type IN ('GENERATES', 'READS', 'CITES')), is_outdated BOOLEAN DEFAULT 0, FOREIGN KEY (artifact_id) REFERENCES Artifacts(id) ON DELETE CASCADE);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15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Спецификация таблиц и SQL-структура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725825"/>
            <a:ext cx="8457000" cy="4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4. Менеджер задач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CREATE TABLE Tasks (id INTEGER PRIMARY KEY AUTOINCREMENT, project_id INTEGER NOT NULL, artifact_id INTEGER, title TEXT NOT NULL, description TEXT, status TEXT CHECK(status IN ('TODO', 'IN_PROGRESS', 'DONE', 'FAILED')) DEFAULT 'TODO', priority TEXT CHECK(priority IN ('LOW', 'MEDIUM', 'HIGH')) DEFAULT 'MEDIUM', due_date TIMESTAMP, createdAt TIMESTAMP DEFAULT CURRENT_TIMESTAMP, updatedAt TIMESTAMP DEFAULT CURRENT_TIMESTAMP, FOREIGN KEY (project_id) REFERENCES Projects(id) ON DELETE CASCADE, FOREIGN KEY (artifact_id) REFERENCES Artifacts(id) ON DELETE SET NULL);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5. Библиография и цитирование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CREATE TABLE Bibliography (id INTEGER PRIMARY KEY AUTOINCREMENT, project_id INTEGER NOT NULL, citation_key TEXT NOT NULL UNIQUE, authors TEXT, title TEXT NOT NULL, year INTEGER, raw_bibtex TEXT NOT NULL, FOREIGN KEY (project_id) REFERENCES Projects(id) ON DELETE CASCADE);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6. Логи выполнения вычислительных скриптов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CREATE TABLE Execution_Logs (id INTEGER PRIMARY KEY AUTOINCREMENT, artifact_id INTEGER NOT NULL, exit_code INTEGER, duration_ms INTEGER, output_log TEXT, timestamp TIMESTAMP DEFAULT CURRENT_TIMESTAMP, FOREIGN KEY (artifact_id) REFERENCES Artifacts(id) ON DELETE CASCADE);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Ключевые сценарии использования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8275"/>
            <a:ext cx="8520600" cy="8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1: Успешное оформление проекта и добавление артефактов</a:t>
            </a:r>
            <a:endParaRPr sz="2300"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862125"/>
            <a:ext cx="8520600" cy="41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Действующие лица: </a:t>
            </a:r>
            <a:r>
              <a:rPr lang="ru"/>
              <a:t>Исследователь, Приложение, База данных, Файловая система.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Шаги:</a:t>
            </a:r>
            <a:endParaRPr b="1"/>
          </a:p>
          <a:p>
            <a:pPr indent="-32575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Исследователь нажимает кнопку создания проекта на главном экране.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Система создаёт проект с названием по умолчанию и переходит на его страницу.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Исследователь нажимает кнопку добавления файла – открывается диалог выбора.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После выбора файлов система создаёт артефакт для каждого и отображает их в списке.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ru"/>
              <a:t>Используемые данные: </a:t>
            </a:r>
            <a:r>
              <a:rPr lang="ru"/>
              <a:t>Проект (название, дата создания), Артефакт (название, тип, путь к файлу, принадлежность проекту).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компоненты: </a:t>
            </a:r>
            <a:r>
              <a:rPr lang="ru"/>
              <a:t>главный экран, страница проекта, репозитории проектов и артефактов, база данных.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8275"/>
            <a:ext cx="85206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2: Редактирование артефакта</a:t>
            </a:r>
            <a:endParaRPr sz="2300"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579275"/>
            <a:ext cx="8520600" cy="4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Действующие лица: </a:t>
            </a:r>
            <a:r>
              <a:rPr lang="ru"/>
              <a:t>Исследователь, Приложение, Файловая система.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Шаги: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Исследователь кликает на артефакт в левой панели.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Система проверяет тип – для статьи открывает встроенный текстовый редактор.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Редактор считывает содержимое файла с диска и отображает его.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Исследователь редактирует текст и сохраняет – изменения записываются в файл.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Используемые данные: </a:t>
            </a:r>
            <a:r>
              <a:rPr lang="ru"/>
              <a:t>Артефакт (тип, путь к файлу).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компоненты: </a:t>
            </a:r>
            <a:r>
              <a:rPr lang="ru"/>
              <a:t>страница проекта, текстовый редактор, файловая система.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8275"/>
            <a:ext cx="85206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3: Создание версии проекта</a:t>
            </a:r>
            <a:endParaRPr sz="2300"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579275"/>
            <a:ext cx="8520600" cy="4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Действующие лица: </a:t>
            </a:r>
            <a:r>
              <a:rPr lang="ru"/>
              <a:t>Исследователь, Приложение, База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Шаги: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Исследователь нажимает "Синхронизировать изменения" – открывается окно истории.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Нажимает "Новая версия" и вводит описание изменений.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Система собирает данные всех артефактов, формирует снимок и вычисляет хэш.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Версия сохраняется в базе данных и появляется в списке истории.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Используемые данные: </a:t>
            </a:r>
            <a:r>
              <a:rPr lang="ru"/>
              <a:t>Артефакт (название, тип, путь, описание), Версия (хэш, описание, автор, дата).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компоненты: </a:t>
            </a:r>
            <a:r>
              <a:rPr lang="ru"/>
              <a:t>окно истории, сервис версионирования, репозиторий версий, база данных.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8275"/>
            <a:ext cx="85206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4: Управление задачами</a:t>
            </a:r>
            <a:endParaRPr sz="2300"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579275"/>
            <a:ext cx="8520600" cy="4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Действующие лица: </a:t>
            </a:r>
            <a:r>
              <a:rPr lang="ru"/>
              <a:t>Исследователь, Приложение, База данных.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Шаги:</a:t>
            </a:r>
            <a:endParaRPr b="1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Исследователь нажимает иконку задач – открывается менеджер задач.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Система загружает задачи и делит их на активные и завершённые.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Исследователь создает задачу, заполняя название, приоритет и дедлайн.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/>
              <a:t>Статус задачи меняется кликом прямо в списке: новая → в процессе → выполнена.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Используемые данные: </a:t>
            </a:r>
            <a:r>
              <a:rPr lang="ru"/>
              <a:t>Задача (название, описание, статус, приоритет, дедлайн, даты).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компоненты: </a:t>
            </a:r>
            <a:r>
              <a:rPr lang="ru"/>
              <a:t>страница задач, репозиторий задач, база данных.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Сценарии с ошибками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Ошибка 1: Файл артефакта перемещ</a:t>
            </a:r>
            <a:r>
              <a:rPr lang="ru" sz="2300"/>
              <a:t>ё</a:t>
            </a:r>
            <a:r>
              <a:rPr lang="ru" sz="2300"/>
              <a:t>н или удалён с диска </a:t>
            </a:r>
            <a:endParaRPr sz="2300"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Условие: </a:t>
            </a:r>
            <a:r>
              <a:rPr lang="ru"/>
              <a:t>Исследователь добавил файл, после чего переместил или удалил его через проводник.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Реакция системы: </a:t>
            </a:r>
            <a:r>
              <a:rPr lang="ru"/>
              <a:t>При открытии артефакта система проверяет наличие файла. Если файл не найден, выводится сообщение об ошибке, предлагается восстановить файл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данные: </a:t>
            </a:r>
            <a:r>
              <a:rPr lang="ru"/>
              <a:t>поле пути в сущности Артефакт. Требуется добавить уведомление пользователю и возможность переназначить путь.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Ошибка 2: Попытка удалить артефакт с зависимостями </a:t>
            </a:r>
            <a:endParaRPr sz="2300"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Условие: </a:t>
            </a:r>
            <a:r>
              <a:rPr lang="ru"/>
              <a:t>Исследователь удаляет артефакт, на который ссылаются другие через зависимости.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Реакция системы: </a:t>
            </a:r>
            <a:r>
              <a:rPr lang="ru"/>
              <a:t>База данных отклоняет удаление из-за ограничения целостности. Операция завершается ошибкой, предлагается удалить зависимость.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данные: </a:t>
            </a:r>
            <a:r>
              <a:rPr lang="ru"/>
              <a:t>сущность Зависимость между артефактами. Требуется показывать пользователю понятное сообщение с перечнем зависимостей.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Ошибка 3: Сохранение пустого названия проекта или задачи </a:t>
            </a:r>
            <a:endParaRPr sz="2300"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Условие: </a:t>
            </a:r>
            <a:r>
              <a:rPr lang="ru"/>
              <a:t>Исследователь очищает поле названия и пытается сохранить.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Реакция системы: </a:t>
            </a:r>
            <a:r>
              <a:rPr lang="ru"/>
              <a:t>Система проверяет заполненность поля. При пустом значении сохранение не происходит – для проекта сохраняется старое название, для задачи форма остается открытой.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Затронутые данные: </a:t>
            </a:r>
            <a:r>
              <a:rPr lang="ru"/>
              <a:t>поле названия в сущностях Проект и Задача. Валидация срабатывает до обращения к базе данных.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Сценарии развития системы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развития 1: Реальный откат к предыдущей версии </a:t>
            </a:r>
            <a:endParaRPr sz="2300"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Текущее состояние:</a:t>
            </a:r>
            <a:r>
              <a:rPr lang="ru"/>
              <a:t> Версии создаются и хранятся, но кнопка отката не выполняет реального восстановления.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Предлагаемое развитие:</a:t>
            </a:r>
            <a:r>
              <a:rPr lang="ru"/>
              <a:t> Сохранять при версионировании не только метаданные, но и содержимое файлов. При откате – восстанавливать файлы на диске до состояния выбранной версии.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Изменения в модели:</a:t>
            </a:r>
            <a:r>
              <a:rPr lang="ru"/>
              <a:t> добавить сущность "Снимок артефакта", связывающую версию с содержимым файла на тот момент.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развития 2: ИИ-помощник в редакторе</a:t>
            </a:r>
            <a:endParaRPr sz="2300"/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Текущее состояние: </a:t>
            </a:r>
            <a:r>
              <a:rPr lang="ru"/>
              <a:t>Кнопка ИИ в панели редактора есть, но не подключена к функциональности.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Предлагаемое развитие: </a:t>
            </a:r>
            <a:r>
              <a:rPr lang="ru"/>
              <a:t>Подключить языковую модель – исследователь выделяет текст, нажимает кнопку, получает предложение по улучшению или дополнению прямо в редакторе.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Изменения в модели: </a:t>
            </a:r>
            <a:r>
              <a:rPr lang="ru"/>
              <a:t>добавить сущность "Журнал взаимодействий с ИИ" с полями запроса, ответа и связи с артефактом.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48275"/>
            <a:ext cx="8520600" cy="9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Сценарий развития 3: Визуализация графа зависимостей</a:t>
            </a:r>
            <a:endParaRPr sz="2300"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955925"/>
            <a:ext cx="8520600" cy="4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Текущее состояние: </a:t>
            </a:r>
            <a:r>
              <a:rPr lang="ru"/>
              <a:t>Сущность зависимостей реализована и хранится в базе, но визуального представления нет.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Предлагаемое развитие: </a:t>
            </a:r>
            <a:r>
              <a:rPr lang="ru"/>
              <a:t>Добавить экран с интерактивным графом – узлы это артефакты, рёбра – зависимости с типом связи. Модель данных уже готова, требуется только экран.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Экранные формы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043099" cy="3422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330" y="1720900"/>
            <a:ext cx="5537070" cy="3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9199" cy="34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700" y="1487725"/>
            <a:ext cx="5373299" cy="36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 rotWithShape="1">
          <a:blip r:embed="rId3">
            <a:alphaModFix/>
          </a:blip>
          <a:srcRect b="0" l="584" r="376" t="1176"/>
          <a:stretch/>
        </p:blipFill>
        <p:spPr>
          <a:xfrm>
            <a:off x="695450" y="534350"/>
            <a:ext cx="7724001" cy="407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Сквозная трассировка требований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115875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Бизнес-цели → Сценарии использования</a:t>
            </a:r>
            <a:endParaRPr sz="2320"/>
          </a:p>
        </p:txBody>
      </p:sp>
      <p:graphicFrame>
        <p:nvGraphicFramePr>
          <p:cNvPr id="180" name="Google Shape;180;p35"/>
          <p:cNvGraphicFramePr/>
          <p:nvPr/>
        </p:nvGraphicFramePr>
        <p:xfrm>
          <a:off x="725588" y="101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{EF87FB85-E188-42BA-962A-281B4B9AC55C}</a:tableStyleId>
              </a:tblPr>
              <a:tblGrid>
                <a:gridCol w="2573925"/>
                <a:gridCol w="2554625"/>
                <a:gridCol w="2564275"/>
              </a:tblGrid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Бизнес-цель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Сценарий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Используемые данные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9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Единое рабочее пространство для исследователя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проекта и добавление файлов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Проект, Артефакт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Воспроизводимость исследовательской работы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версии проекта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Артефакт, Версия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Управление задачами и дедлайнами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Управление задачами проекта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Задача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Структурирование научных материалов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Применение шаблона к проекту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Проект, Артефакт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type="title"/>
          </p:nvPr>
        </p:nvSpPr>
        <p:spPr>
          <a:xfrm>
            <a:off x="311700" y="115875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Бизнес-цели → Сценарии использования</a:t>
            </a:r>
            <a:endParaRPr sz="2320"/>
          </a:p>
        </p:txBody>
      </p:sp>
      <p:graphicFrame>
        <p:nvGraphicFramePr>
          <p:cNvPr id="186" name="Google Shape;186;p36"/>
          <p:cNvGraphicFramePr/>
          <p:nvPr/>
        </p:nvGraphicFramePr>
        <p:xfrm>
          <a:off x="725588" y="101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{EF87FB85-E188-42BA-962A-281B4B9AC55C}</a:tableStyleId>
              </a:tblPr>
              <a:tblGrid>
                <a:gridCol w="2564275"/>
                <a:gridCol w="2564275"/>
                <a:gridCol w="2564275"/>
              </a:tblGrid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Заинтересованное лицо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Потребность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Сценарий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9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Исследователь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Хранить все файлы проекта в одном месте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проекта и добавление файлов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3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Исследователь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Редактировать текст без смены инструмента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Редактирование артефакта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Исследователь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Фиксировать прогресс работы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Создание версии проекта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Исследователь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 забывать о задачах и дедлайнах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Управление задачами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311700" y="115875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320"/>
              <a:t>Атрибуты качества → Архитектурные решения</a:t>
            </a:r>
            <a:endParaRPr sz="2320"/>
          </a:p>
        </p:txBody>
      </p:sp>
      <p:graphicFrame>
        <p:nvGraphicFramePr>
          <p:cNvPr id="192" name="Google Shape;192;p37"/>
          <p:cNvGraphicFramePr/>
          <p:nvPr/>
        </p:nvGraphicFramePr>
        <p:xfrm>
          <a:off x="725588" y="101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{EF87FB85-E188-42BA-962A-281B4B9AC55C}</a:tableStyleId>
              </a:tblPr>
              <a:tblGrid>
                <a:gridCol w="1700100"/>
                <a:gridCol w="6489350"/>
              </a:tblGrid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Атрибут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Решение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4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Надёжность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Ограничения целостности в базе данных, система миграций схемы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2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Производительность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Асинхронные операции – интерфейс не блокируется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Расширяемость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Паттерн "репозиторий" изолирует доступ к данным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Безопасность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Локальное хранение, нет передачи данных во внешние системы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Итоговая цепочка</a:t>
            </a:r>
            <a:endParaRPr/>
          </a:p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Цель → Требование → Сценарий → Данные → Компоненты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Единое пространство → управление артефактами → добавление файлов → Проект и Артефакт → главный экран и страница проекта.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Воспроизводимость → версионирование → создание версии → Артефакт и Версия → сервис версионирования и окно истории.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Дедлайны → система задач → управление задачами → Задача → менеджер задач.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