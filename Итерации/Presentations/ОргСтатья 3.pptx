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DB3172-CC11-4DCC-9161-051E95AB5EAD}">
  <a:tblStyle styleId="{2DDB3172-CC11-4DCC-9161-051E95AB5E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1ac07686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11ac07686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11ac076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11ac076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11ac0768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11ac0768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1ac07686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1ac07686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1ac07686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1ac0768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1ac076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11ac076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1ac0768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1ac0768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11ac0768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11ac0768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1ac0768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11ac0768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1ac0768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1ac0768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1ac07686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1ac0768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1ac07686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11ac0768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11ac07686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11ac0768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11ac0768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11ac0768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11ac0768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11ac0768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11ac0768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11ac0768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ОргСтатья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06750"/>
            <a:ext cx="85206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ru" sz="1270"/>
              <a:t>Выполнили студенты 1/233 группы</a:t>
            </a:r>
            <a:r>
              <a:rPr b="1" lang="ru" sz="1270"/>
              <a:t>: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Пашанов Иван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Куличков Олег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Шестернев Даниил</a:t>
            </a:r>
            <a:endParaRPr sz="12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8175" y="93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20"/>
              <a:t>Состав команды</a:t>
            </a:r>
            <a:endParaRPr sz="29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932075"/>
            <a:ext cx="7164300" cy="22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Пашанов Иван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Куличков Олег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Шестернёв Даниил</a:t>
            </a:r>
            <a:endParaRPr sz="23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100" y="2199575"/>
            <a:ext cx="2624026" cy="262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 проекта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ОргСтатья — кроссплатформенное десктопное приложение, которое устраняет фрагментацию научной работы. Вместо разрозненных папок, облачных сервисов и блокнотов исследователь получает единое локальное пространство, где: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статья, черновики и библиография хранятся рядом с исходным кодом и датасетами;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каждый шаг эксперимента логируется и привязывается к конкретной версии файлов;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изменения отслеживаются встроенной системой версионирования с наглядной визуализацией.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Проект строится на принципе Local-First &amp; Reproducibility-First: ваши данные не покидают машину, а связность артефактов гарантирует, что любой эксперимент можно воспроизвести через год без потери контекста.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40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и задачи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740400"/>
            <a:ext cx="8706900" cy="44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460"/>
              <a:t>Цель</a:t>
            </a:r>
            <a:r>
              <a:rPr b="1" lang="ru" sz="1460"/>
              <a:t>: </a:t>
            </a:r>
            <a:r>
              <a:rPr lang="ru" sz="1460"/>
              <a:t>Создать надёжное локальное рабочее пространство, которое помогает избегать разрозненности в версиях данных и текста, минимизирует административные затраты и упрощает подготовку научных материалов от черновика до сдачи.</a:t>
            </a:r>
            <a:endParaRPr sz="146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ru" sz="1460"/>
              <a:t>Задачи проекта</a:t>
            </a:r>
            <a:endParaRPr b="1" sz="1460"/>
          </a:p>
          <a:p>
            <a:pPr indent="-32131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60"/>
              <a:buAutoNum type="arabicPeriod"/>
            </a:pPr>
            <a:r>
              <a:rPr lang="ru" sz="1460"/>
              <a:t>Унификация артефактов - разработать архитектуру связывания Статья ↔ Код скриптов ↔ Данные ↔ Заметки ↔ Библиография с автоматическим отслеживанием зависимостей.</a:t>
            </a:r>
            <a:endParaRPr sz="1460"/>
          </a:p>
          <a:p>
            <a:pPr indent="-32131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AutoNum type="arabicPeriod"/>
            </a:pPr>
            <a:r>
              <a:rPr lang="ru" sz="1460"/>
              <a:t>Версионирование - интегрировать систему контроля версий с наглядной историей изменений, ветвлением и возможностью отката.</a:t>
            </a:r>
            <a:endParaRPr sz="1460"/>
          </a:p>
          <a:p>
            <a:pPr indent="-32131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AutoNum type="arabicPeriod"/>
            </a:pPr>
            <a:r>
              <a:rPr lang="ru" sz="1460"/>
              <a:t>Вычислительное окружение - интегрировать ноутбук-подобную среду с поддержкой Markdown, LaTeX, математических формул и выполнения кода (Python/Julia/R через ядра).</a:t>
            </a:r>
            <a:endParaRPr sz="1460"/>
          </a:p>
          <a:p>
            <a:pPr indent="-32131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AutoNum type="arabicPeriod"/>
            </a:pPr>
            <a:r>
              <a:rPr lang="ru" sz="1460"/>
              <a:t>Управление библиографией — организовать ведение единого списка литературы, автоматическое форматирование ссылок по выбранному стилю и их мгновенную вставку в текст статьи.</a:t>
            </a:r>
            <a:endParaRPr sz="1460"/>
          </a:p>
          <a:p>
            <a:pPr indent="-32131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AutoNum type="arabicPeriod"/>
            </a:pPr>
            <a:r>
              <a:rPr lang="ru" sz="1460"/>
              <a:t>Бесшовный экспорт - обеспечить однокнопочную сборку всего проекта в структурированный архив (с метаданными, логами, версиями) для сдачи или архивирования.</a:t>
            </a:r>
            <a:endParaRPr sz="146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Границы проекта</a:t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3117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{2DDB3172-CC11-4DCC-9161-051E95AB5EAD}</a:tableStyleId>
              </a:tblPr>
              <a:tblGrid>
                <a:gridCol w="4042475"/>
                <a:gridCol w="447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Входит в область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Не входит в область (на текущем этапе)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Локальное хранение данных (local-first, данные не покидают ПК без явного экспорта)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Облачная синхронизация между устройствами или командный доступ в реальном времени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Кроссплатформенный десктоп-клиент (Windows, Linux, macOS)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Замена полноценных IDE (VS Code, PyCharm, RStudio, MATLAB)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Интеграция системы контроля версий с визуализацией изменений (git)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Платформа для рецензирования, публичного шеринга или краудсорсинга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Встроенная вычислительная среда (Jupyter/MATLAB-подобная) с поддержкой .md, LaTeX и математических расчётов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Прямая загрузка платных статей или обход paywall-систем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Управление библиографией, тезисами и веб-ссылками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Полноценный CI/CD для продакшн-кода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Однокнопочный экспорт архива, содержащего текст научной статьи и данных экспериментов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11950" y="82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продукта (с точки зрения владельца/заказчика)</a:t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187825" y="65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{2DDB3172-CC11-4DCC-9161-051E95AB5EAD}</a:tableStyleId>
              </a:tblPr>
              <a:tblGrid>
                <a:gridCol w="726400"/>
                <a:gridCol w="2535750"/>
                <a:gridCol w="4193925"/>
                <a:gridCol w="1312275"/>
              </a:tblGrid>
              <a:tr h="420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ID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Цель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Критерий достижения (метрика)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Приоритет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72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Сокращение времени на вставку ссылок на использованную литературу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Вставка ссылки на источник требует всего 2 клика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Средний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Обеспечение оптимизированного хранения данных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Размер файлов, создаваемых программой, не превышает размер файлов в форматах конкурентов более чем на 20%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Высокий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Снижение потерь контекста при переключении между артефактами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Пользователь выполняет 80% рабочих операций в рамках одного интерфейса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Средний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Минимизация ошибок версионирования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Автоматическое отслеживание зависимостей между файлами в 95% случаев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Высокий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Обеспечение приватности данных (local-first)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Все пользовательские данные по умолчанию хранятся локально, экспорт — только по явному запросу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Высокий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Упрощение передачи результатов научной работы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Экспорт полного комплекта файлов (статья + код + данные + логи) выполняется одной кнопкой за 1 минуту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Высокий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Ограничения бизнеса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Бюджет разработки: ограниченный (студенческий проект)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Сроки: подготовка концепции и ТЗ в рамках текущего семестра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Ресурсы: команда из 3 человек, частичная занятость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Лицензирование: использование open-source компонентов там, где это возможно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Заинтересованные лица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 их требования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6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стейкхолдеров</a:t>
            </a:r>
            <a:endParaRPr/>
          </a:p>
        </p:txBody>
      </p:sp>
      <p:graphicFrame>
        <p:nvGraphicFramePr>
          <p:cNvPr id="103" name="Google Shape;103;p21"/>
          <p:cNvGraphicFramePr/>
          <p:nvPr/>
        </p:nvGraphicFramePr>
        <p:xfrm>
          <a:off x="75075" y="12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{2DDB3172-CC11-4DCC-9161-051E95AB5EAD}</a:tableStyleId>
              </a:tblPr>
              <a:tblGrid>
                <a:gridCol w="1603925"/>
                <a:gridCol w="1935175"/>
                <a:gridCol w="3577750"/>
                <a:gridCol w="1868900"/>
              </a:tblGrid>
              <a:tr h="439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Стейкхолдер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Роль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Потребности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Связанные бизнес-требования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61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Студент-исследователь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Основной пользователь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Быстро вставлять ссылки на литературу, не терять версии, экспортировать полный комплект работы для сдачи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BR-01, BR-03, BR-04, BR-05, BR-06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Научный руководитель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Рецензент, заказчик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Получать структурированный архив с текстом, кодом и результатами для проверки воспроизводимости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BR-04, BR-06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Лаборатория/кафедра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Организационный заказчик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Архивирование проектов, стандартизация структуры работ, экономия дискового пространства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BR-02, BR-04, BR-05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834138" y="1006188"/>
            <a:ext cx="8169900" cy="4137300"/>
          </a:xfrm>
          <a:prstGeom prst="rect">
            <a:avLst/>
          </a:prstGeom>
        </p:spPr>
        <p:txBody>
          <a:bodyPr anchorCtr="0" anchor="t" bIns="91425" lIns="270000" spcFirstLastPara="1" rIns="91425" wrap="square" tIns="91425">
            <a:spAutoFit/>
          </a:bodyPr>
          <a:lstStyle/>
          <a:p>
            <a:pPr indent="-178900" lvl="0" marL="90000" rtl="0" algn="l">
              <a:spcBef>
                <a:spcPts val="0"/>
              </a:spcBef>
              <a:spcAft>
                <a:spcPts val="0"/>
              </a:spcAft>
              <a:buSzPts val="1400"/>
              <a:buChar char="一"/>
            </a:pPr>
            <a:r>
              <a:rPr b="1" lang="ru" sz="1300"/>
              <a:t>Как студент-исследователь,</a:t>
            </a:r>
            <a:br>
              <a:rPr lang="ru" sz="1300"/>
            </a:br>
            <a:r>
              <a:rPr lang="ru" sz="1300"/>
              <a:t>Я хочу вставить ссылку на источник в текст статьи за 2 клика,</a:t>
            </a:r>
            <a:br>
              <a:rPr lang="ru" sz="1300"/>
            </a:br>
            <a:r>
              <a:rPr lang="ru" sz="1300"/>
              <a:t>Чтобы не тратить время на ручной поиск и форматирование библиографии.</a:t>
            </a:r>
            <a:br>
              <a:rPr lang="ru" sz="1300"/>
            </a:br>
            <a:endParaRPr sz="1300"/>
          </a:p>
          <a:p>
            <a:pPr indent="-178900" lvl="0" marL="90000" rtl="0" algn="l">
              <a:spcBef>
                <a:spcPts val="0"/>
              </a:spcBef>
              <a:spcAft>
                <a:spcPts val="0"/>
              </a:spcAft>
              <a:buSzPts val="1400"/>
              <a:buChar char="一"/>
            </a:pPr>
            <a:r>
              <a:rPr b="1" lang="ru" sz="1300"/>
              <a:t>Как студент-исследователь,</a:t>
            </a:r>
            <a:br>
              <a:rPr lang="ru" sz="1300"/>
            </a:br>
            <a:r>
              <a:rPr lang="ru" sz="1300"/>
              <a:t>Я хочу связать черновик статьи с исходным кодом эксперимента и датасетом</a:t>
            </a:r>
            <a:r>
              <a:rPr lang="ru" sz="1300"/>
              <a:t>,</a:t>
            </a:r>
            <a:br>
              <a:rPr lang="ru" sz="1300"/>
            </a:br>
            <a:r>
              <a:rPr lang="ru" sz="1300"/>
              <a:t>Чтобы при изменении кода система подсказывала, какие разделы статьи требуют обновления.</a:t>
            </a:r>
            <a:br>
              <a:rPr lang="ru" sz="1300"/>
            </a:br>
            <a:endParaRPr sz="1300"/>
          </a:p>
          <a:p>
            <a:pPr indent="-178900" lvl="0" marL="90000" rtl="0" algn="l">
              <a:spcBef>
                <a:spcPts val="0"/>
              </a:spcBef>
              <a:spcAft>
                <a:spcPts val="0"/>
              </a:spcAft>
              <a:buSzPts val="1400"/>
              <a:buChar char="一"/>
            </a:pPr>
            <a:r>
              <a:rPr b="1" lang="ru" sz="1300"/>
              <a:t>Как студент-исследователь,</a:t>
            </a:r>
            <a:br>
              <a:rPr lang="ru" sz="1300"/>
            </a:br>
            <a:r>
              <a:rPr lang="ru" sz="1300"/>
              <a:t>Я хочу экспортировать весь проект одним архивом, включая текст статьи, код, данные и логи,</a:t>
            </a:r>
            <a:br>
              <a:rPr lang="ru" sz="1300"/>
            </a:br>
            <a:r>
              <a:rPr lang="ru" sz="1300"/>
              <a:t>Чтобы сдать работу преподавателю без ручной сборки файлов и риска что-то упустить.</a:t>
            </a:r>
            <a:br>
              <a:rPr lang="ru" sz="1300"/>
            </a:br>
            <a:endParaRPr sz="1300"/>
          </a:p>
          <a:p>
            <a:pPr indent="-178900" lvl="0" marL="90000" rtl="0" algn="l">
              <a:spcBef>
                <a:spcPts val="0"/>
              </a:spcBef>
              <a:spcAft>
                <a:spcPts val="0"/>
              </a:spcAft>
              <a:buSzPts val="1400"/>
              <a:buChar char="一"/>
            </a:pPr>
            <a:r>
              <a:rPr b="1" lang="ru" sz="1300"/>
              <a:t>Как научный руководитель,</a:t>
            </a:r>
            <a:br>
              <a:rPr lang="ru" sz="1300"/>
            </a:br>
            <a:r>
              <a:rPr lang="ru" sz="1300"/>
              <a:t>Я хочу получить от студента структурированный архив проекта с версионированным кодом и результатами,</a:t>
            </a:r>
            <a:br>
              <a:rPr lang="ru" sz="1300"/>
            </a:br>
            <a:r>
              <a:rPr lang="ru" sz="1300"/>
              <a:t>Чтобы проверить работу и при необходимости воспроизвести эксперимент без дополнительных запросов.</a:t>
            </a:r>
            <a:endParaRPr sz="1300"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78" y="1992088"/>
            <a:ext cx="682767" cy="68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78" y="2978039"/>
            <a:ext cx="682767" cy="68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78" y="1006163"/>
            <a:ext cx="682767" cy="68293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32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Пользовательские истории</a:t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960" y="3963989"/>
            <a:ext cx="684000" cy="682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184025" y="8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Функциональные требования</a:t>
            </a:r>
            <a:endParaRPr/>
          </a:p>
        </p:txBody>
      </p:sp>
      <p:graphicFrame>
        <p:nvGraphicFramePr>
          <p:cNvPr id="119" name="Google Shape;119;p23"/>
          <p:cNvGraphicFramePr/>
          <p:nvPr/>
        </p:nvGraphicFramePr>
        <p:xfrm>
          <a:off x="85613" y="65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{2DDB3172-CC11-4DCC-9161-051E95AB5EAD}</a:tableStyleId>
              </a:tblPr>
              <a:tblGrid>
                <a:gridCol w="705350"/>
                <a:gridCol w="2380750"/>
                <a:gridCol w="5886675"/>
              </a:tblGrid>
              <a:tr h="30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ID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Требование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Описание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6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Управление артефактами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Система позволяет создавать, связывать и редактировать сущности: Статья, Код, Датасет, Заметка, Библиография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Встроенный редактор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Поддержка Markdown, LaTeX, математических формул, подсветка синтаксиса для основных языков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Вычислительное ядро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Запуск кода (Python/Julia/R) в изолированном окружении с сохранением результатов и логов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Контроль версий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Интеграция с Git: коммиты, ветки, история изменений, визуализация диффов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Экспорт проекта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Однокнопочная сборка архива с метаданными, версиями, отчётами и логами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Управление библиографией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Импорт/экспорт в BibTeX, RIS; вставка ссылок в текст за 2 клика; автоматическое форматирование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FR-07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Отслеживание зависимостей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Автоматическая фиксация связей между артефактами (код -&gt; результаты -&gt; раздел статьи)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81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Атрибуты качества</a:t>
            </a:r>
            <a:endParaRPr/>
          </a:p>
        </p:txBody>
      </p:sp>
      <p:graphicFrame>
        <p:nvGraphicFramePr>
          <p:cNvPr id="125" name="Google Shape;125;p24"/>
          <p:cNvGraphicFramePr/>
          <p:nvPr/>
        </p:nvGraphicFramePr>
        <p:xfrm>
          <a:off x="311700" y="6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{2DDB3172-CC11-4DCC-9161-051E95AB5EAD}</a:tableStyleId>
              </a:tblPr>
              <a:tblGrid>
                <a:gridCol w="2691675"/>
                <a:gridCol w="3010150"/>
                <a:gridCol w="301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Категория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Требование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Обоснование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Производительность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Запуск приложения ≤ 3 сек, отклик интерфейса ≤ 200 мс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Для сохранения потока работы исследователя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Надежность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Автосохранение каждые 30 сек, восстановление после сбоев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Предотвращение потери данных при длительной работе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Безопасность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Все данные локальны, шифрование экспортируемых архивов по запросу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Соответствие требованиям вузов и приватности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Удобство использования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Интерфейс осваивается за ≤ 15 минут, справка встроена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Целевая аудитория –</a:t>
                      </a:r>
                      <a:r>
                        <a:rPr lang="ru" sz="1200">
                          <a:solidFill>
                            <a:schemeClr val="dk2"/>
                          </a:solidFill>
                        </a:rPr>
                        <a:t> не обязательно технически подготовленные пользователи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Расширяемость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Модульная архитектура, плагины для новых языков/форматов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Возможность развития без переписывания ядра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Совместимость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Поддержка Windows 10/11, Linux (Ubuntu 20.04+), macOS 12+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Кроссплатформенность как ключевое требование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Ограничения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Техническое: использование AvaloniaUI для кроссплатформенного десктопа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Ресурсное: минимальные требования к ПК — 4 ГБ ОЗУ, 2 ядра CPU, 10 ГБ свободного места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Лицензионное: только open-source или бесплатные для образования компоненты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Юридическое: соблюдение авторских прав при работе с библиографией и внешними данными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Внешние системы и форматы данных</a:t>
            </a:r>
            <a:endParaRPr/>
          </a:p>
        </p:txBody>
      </p:sp>
      <p:graphicFrame>
        <p:nvGraphicFramePr>
          <p:cNvPr id="137" name="Google Shape;137;p26"/>
          <p:cNvGraphicFramePr/>
          <p:nvPr/>
        </p:nvGraphicFramePr>
        <p:xfrm>
          <a:off x="311700" y="122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{2DDB3172-CC11-4DCC-9161-051E95AB5EAD}</a:tableStyleId>
              </a:tblPr>
              <a:tblGrid>
                <a:gridCol w="2219675"/>
                <a:gridCol w="1845925"/>
                <a:gridCol w="2062950"/>
                <a:gridCol w="2392050"/>
              </a:tblGrid>
              <a:tr h="43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Система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Назначение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Формат обмена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dk2"/>
                          </a:solidFill>
                        </a:rPr>
                        <a:t>Метод интеграции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Git-репозитории (GitHub, GitLab, локальный)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Контроль версий кода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Git-протокол, REST API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libgit2 через C# bindings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Библиографические базы (CrossRef, Zotero)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Импорт метаданных статей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BibTeX, RIS, JSON-LD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REST API + парсинг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Вычислительные ядра (Jupyter, Julia, R)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Выполнение кода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ZeroMQ, stdin/stdout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IPC-каналы с изоляцией процессов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Экспортные форматы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Сдача работ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ZIP-архив с структурированным содержимым + PDF/DOCX отчёт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Внутренний сериализатор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57150" marB="57150" marR="123825" marL="123825">
                    <a:lnL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MVP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ОргСтатья MVP — это локальное десктоп-приложение для исследователя, которое позволяет: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Создать проект и добавить в него 4 типа артефактов: черновик статьи (Markdown+LaTeX), код скрипта</a:t>
            </a:r>
            <a:r>
              <a:rPr lang="ru"/>
              <a:t> (</a:t>
            </a:r>
            <a:r>
              <a:rPr lang="ru"/>
              <a:t>выполняемый в встроенной консоли), датасет, библиографическую запись.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Связать артефакты между собой и отслеживать зависимости.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Выполнить код скрипта прямо в интерфейсе и сохранить результат как часть проекта.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Вставить ссылку на источник из </a:t>
            </a:r>
            <a:r>
              <a:rPr lang="ru"/>
              <a:t>подключенной</a:t>
            </a:r>
            <a:r>
              <a:rPr lang="ru"/>
              <a:t> библиографии в текст статьи за 2 клика.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Экспортировать весь проект в один ZIP-архив с метаданными.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91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НЕ входит в MVP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627700"/>
            <a:ext cx="8520600" cy="29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Полноценная визуализация Git-истории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Синхронизация между устройствами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Расширенное управление библиографией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Продвинутое сжатие данных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