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9A2E1D-A497-4494-AB5A-0764F2CC49F2}">
  <a:tblStyle styleId="{AC9A2E1D-A497-4494-AB5A-0764F2CC49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45db758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845db758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45db7585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45db7585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45db7585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45db758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45db7585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845db758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49f647e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849f647e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PaperSync Hub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68175" y="93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920"/>
              <a:t>Состав команды</a:t>
            </a:r>
            <a:endParaRPr sz="29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932075"/>
            <a:ext cx="7164300" cy="22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Пашанов Иван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Куличков Олег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ru" sz="2300"/>
              <a:t>Шестернёв Даниил</a:t>
            </a:r>
            <a:endParaRPr sz="23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8100" y="2199575"/>
            <a:ext cx="2624026" cy="262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Идея проекта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</a:t>
            </a:r>
            <a:r>
              <a:rPr lang="ru"/>
              <a:t>aperSync Hub — кроссплатформенное десктопное приложение, которое устраняет фрагментацию научной работы. Вместо разрозненных папок, облачных сервисов и блокнотов исследователь получает единое локальное пространство, где: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статья, черновики и библиография хранятся рядом с исходным кодом и датасетами;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каждый шаг эксперимента логируется и привязывается к конкретной версии файлов;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изменения отслеживаются встроенной системой версионирования с наглядной визуализацией;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отчёт по ГОСТ или внутреннему стандарту собирается автоматически;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AI-ассистент помогает с формулировками, рефакторингом кода и проверкой воспроизводимости.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Проект строится на принципе Local-First &amp; Reproducibility-First: ваши данные не покидают машину, а связность артефактов гарантирует, что любой эксперимент можно воспроизвести через год без потери контекста.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 итерации</a:t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{AC9A2E1D-A497-4494-AB5A-0764F2CC49F2}</a:tableStyleId>
              </a:tblPr>
              <a:tblGrid>
                <a:gridCol w="416900"/>
                <a:gridCol w="4948700"/>
                <a:gridCol w="1873400"/>
              </a:tblGrid>
              <a:tr h="40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Задача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Статус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Определить границы проекта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Выполнено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71900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Определить внешние системы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Выполнено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Определить технические средства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Выполнено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Определить конкурентов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Выполнено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Определить заинтересованные стороны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Выполнено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Создать прототип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В процессе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24625" y="0"/>
            <a:ext cx="8520600" cy="3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9010"/>
              <a:buNone/>
            </a:pPr>
            <a:r>
              <a:rPr lang="ru" sz="2020"/>
              <a:t>Сравнительный анализ конкурентов</a:t>
            </a:r>
            <a:endParaRPr sz="2020"/>
          </a:p>
        </p:txBody>
      </p:sp>
      <p:graphicFrame>
        <p:nvGraphicFramePr>
          <p:cNvPr id="79" name="Google Shape;79;p17"/>
          <p:cNvGraphicFramePr/>
          <p:nvPr/>
        </p:nvGraphicFramePr>
        <p:xfrm>
          <a:off x="224625" y="44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{AC9A2E1D-A497-4494-AB5A-0764F2CC49F2}</a:tableStyleId>
              </a:tblPr>
              <a:tblGrid>
                <a:gridCol w="1762225"/>
                <a:gridCol w="1762225"/>
                <a:gridCol w="1762225"/>
                <a:gridCol w="1762225"/>
                <a:gridCol w="1762225"/>
              </a:tblGrid>
              <a:tr h="54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Функция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JupyterLab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Overleaf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</a:rPr>
                        <a:t>MLflow + DVC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</a:rPr>
                        <a:t>PaperSync Hub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1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Локальное хранение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+/-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Написание текста (MD/LaTeX)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Выполнение кода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+/-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Версионирование данных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Логирование экспериментов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+/-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Генерация отчётов (ГОСТ)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Библиография и ссылки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AI-ассистент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+/-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 sz="1100">
                          <a:solidFill>
                            <a:schemeClr val="dk1"/>
                          </a:solidFill>
                        </a:rPr>
                        <a:t>Экспорт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solidFill>
                            <a:schemeClr val="dk1"/>
                          </a:solidFill>
                        </a:rPr>
                        <a:t>+/-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chemeClr val="dk1"/>
                          </a:solidFill>
                        </a:rPr>
                        <a:t>+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КонтекстДиаграмма.drawio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63" y="71725"/>
            <a:ext cx="77198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